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B2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144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 dirty="0">
                <a:solidFill>
                  <a:srgbClr val="E50914"/>
                </a:solidFill>
                <a:latin typeface="Arial"/>
              </a:rPr>
              <a:t>ESIEA   •  DATA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RECOMMANDATION</a:t>
            </a:r>
          </a:p>
          <a:p>
            <a:pPr algn="l">
              <a:spcAft>
                <a:spcPts val="7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DE FILMS &amp; SUCCÈS</a:t>
            </a:r>
          </a:p>
          <a:p>
            <a:pPr algn="l">
              <a:spcAft>
                <a:spcPts val="7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AU BOX-OFFICE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617720"/>
            <a:ext cx="182880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B3B3B3"/>
                </a:solidFill>
                <a:latin typeface="Arial"/>
              </a:rPr>
              <a:t>De la donnée brute à la décision : pipeline de données, modèle de succès, recommandation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B3B3B3"/>
                </a:solidFill>
                <a:latin typeface="Arial"/>
              </a:rPr>
              <a:t>Soutenance du 2 octobre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4000" b="1" i="0">
                <a:solidFill>
                  <a:srgbClr val="E50914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LA QUESTION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65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200" b="0" i="0">
                <a:solidFill>
                  <a:srgbClr val="B3B3B3"/>
                </a:solidFill>
                <a:latin typeface="Arial"/>
              </a:rPr>
              <a:t>2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173736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39"/>
            <a:ext cx="64008" cy="1463039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QUESTION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0" i="1">
                <a:solidFill>
                  <a:srgbClr val="FFFFFF"/>
                </a:solidFill>
                <a:latin typeface="Arial"/>
              </a:rPr>
              <a:t>Une plateforme de streaming veut choisir son prochain type de film à produire. Quelles caractéristiques prédisent le succès, et que recommander à quels utilisateurs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3566160" cy="246888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749040"/>
            <a:ext cx="64008" cy="21945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7947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Succès au box-office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B3B3B3"/>
                </a:solidFill>
                <a:latin typeface="Arial"/>
              </a:rPr>
              <a:t>Un film </a:t>
            </a:r>
            <a:r>
              <a:rPr sz="1600" b="0" i="0" dirty="0" err="1">
                <a:solidFill>
                  <a:srgbClr val="B3B3B3"/>
                </a:solidFill>
                <a:latin typeface="Arial"/>
              </a:rPr>
              <a:t>rapporte</a:t>
            </a:r>
            <a:r>
              <a:rPr sz="1600" b="0" i="0" dirty="0">
                <a:solidFill>
                  <a:srgbClr val="B3B3B3"/>
                </a:solidFill>
                <a:latin typeface="Arial"/>
              </a:rPr>
              <a:t>-t-il au </a:t>
            </a:r>
            <a:r>
              <a:rPr sz="1600" b="0" i="0" dirty="0" err="1">
                <a:solidFill>
                  <a:srgbClr val="B3B3B3"/>
                </a:solidFill>
                <a:latin typeface="Arial"/>
              </a:rPr>
              <a:t>moins</a:t>
            </a:r>
            <a:r>
              <a:rPr sz="1600" b="0" i="0" dirty="0">
                <a:solidFill>
                  <a:srgbClr val="B3B3B3"/>
                </a:solidFill>
                <a:latin typeface="Arial"/>
              </a:rPr>
              <a:t> 2,5 × son budget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3611880"/>
            <a:ext cx="3566160" cy="246888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79" y="3749040"/>
            <a:ext cx="64008" cy="21945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1999" y="37947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Recommandation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526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Quels films proposer à quels profils de spectateurs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611880"/>
            <a:ext cx="3566160" cy="246888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19" y="3749040"/>
            <a:ext cx="64008" cy="219456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Deux audiences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2628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Ingénieur ML : architecture, métriques. Direction studio : genres, budgets,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4000" b="1" i="0">
                <a:solidFill>
                  <a:srgbClr val="E50914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65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200" b="0" i="0">
                <a:solidFill>
                  <a:srgbClr val="B3B3B3"/>
                </a:solidFill>
                <a:latin typeface="Arial"/>
              </a:rPr>
              <a:t>3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914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 i="0">
                <a:solidFill>
                  <a:srgbClr val="E50914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5448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Pipeline de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846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B3B3B3"/>
                </a:solidFill>
                <a:latin typeface="Arial"/>
              </a:rPr>
              <a:t>Collecte, nettoyage, visualisation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914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 i="0">
                <a:solidFill>
                  <a:srgbClr val="E50914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4320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Modèle de succès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846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B3B3B3"/>
                </a:solidFill>
                <a:latin typeface="Arial"/>
              </a:rPr>
              <a:t>Classification ROI ≥ 2,5 et lecture métier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914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 i="0">
                <a:solidFill>
                  <a:srgbClr val="E50914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Recommandation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4846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B3B3B3"/>
                </a:solidFill>
                <a:latin typeface="Arial"/>
              </a:rPr>
              <a:t>Segmentation des spectateurs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914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 i="0">
                <a:solidFill>
                  <a:srgbClr val="E50914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20640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Limites &amp;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446588"/>
            <a:ext cx="484632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 i="0" dirty="0" err="1">
                <a:solidFill>
                  <a:srgbClr val="B3B3B3"/>
                </a:solidFill>
                <a:latin typeface="Arial"/>
              </a:rPr>
              <a:t>Biais</a:t>
            </a:r>
            <a:r>
              <a:rPr sz="1700" b="0" i="0" dirty="0">
                <a:solidFill>
                  <a:srgbClr val="B3B3B3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B3B3B3"/>
                </a:solidFill>
                <a:latin typeface="Arial"/>
              </a:rPr>
              <a:t>pistes</a:t>
            </a:r>
            <a:r>
              <a:rPr sz="17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B3B3B3"/>
                </a:solidFill>
                <a:latin typeface="Arial"/>
              </a:rPr>
              <a:t>d'amélioration</a:t>
            </a:r>
            <a:endParaRPr sz="1700" b="0" i="0" dirty="0">
              <a:solidFill>
                <a:srgbClr val="B3B3B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4000" b="1" i="0">
                <a:solidFill>
                  <a:srgbClr val="E50914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4521"/>
            <a:ext cx="10058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 dirty="0">
                <a:solidFill>
                  <a:srgbClr val="FFFFFF"/>
                </a:solidFill>
                <a:latin typeface="Arial"/>
              </a:rPr>
              <a:t>TROIS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65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200" b="0" i="0">
                <a:solidFill>
                  <a:srgbClr val="B3B3B3"/>
                </a:solidFill>
                <a:latin typeface="Arial"/>
              </a:rPr>
              <a:t>4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6616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916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MovieLens ml-32m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CSV structuré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32 000 204 notes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200 948 utilisateurs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84 432 films notés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Matrice remplie à 0,19 %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548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Apporte : Les goûts des spectateurs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50876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79" y="1508760"/>
            <a:ext cx="356616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1999" y="16916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TMDB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JSON semi-structuré (API)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743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31 820 fiches en cache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Un appel API par film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7548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Apporte : Budget, recettes, genres, casting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50876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19" y="1508760"/>
            <a:ext cx="3566160" cy="8229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6916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IMDb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TSV compressé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31 944 titres retenus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B3B3B3"/>
                </a:solidFill>
                <a:latin typeface="Arial"/>
              </a:rPr>
              <a:t>•  Lecture par blocs de 500 000 lignes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7548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Apporte : Type de titre, durée, note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Faire correspondre movieId ↔ tmdbId ↔ imdb_id  •  Signaler plutôt que supprimer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4000" b="1" i="0">
                <a:solidFill>
                  <a:srgbClr val="E50914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PIPELINE EN 3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65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200" b="0" i="0">
                <a:solidFill>
                  <a:srgbClr val="B3B3B3"/>
                </a:solidFill>
                <a:latin typeface="Arial"/>
              </a:rPr>
              <a:t>5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66160" cy="448056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66160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0876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  COLLECTE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src/boxoffice/ingestion/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Cache JSON par film (TMDB), relançable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Erreurs 404 / 429 / 401 gérées à part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IMDb lu par blocs de 500 000 lignes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Indice des prix pour les dollars 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508760"/>
            <a:ext cx="3566160" cy="448056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508760"/>
            <a:ext cx="3566160" cy="914400"/>
          </a:xfrm>
          <a:prstGeom prst="rect">
            <a:avLst/>
          </a:prstGeom>
          <a:solidFill>
            <a:srgbClr val="B2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1999" y="150876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  NETTOYAGE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06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src/boxoffice/cleaning/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108960"/>
            <a:ext cx="3108960" cy="1838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Référentiel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commun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des 3 sources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Zéros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déguisés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fr-FR" sz="1600" dirty="0">
                <a:solidFill>
                  <a:srgbClr val="FFFFFF"/>
                </a:solidFill>
                <a:latin typeface="Arial"/>
              </a:rPr>
              <a:t>=</a:t>
            </a:r>
            <a:r>
              <a:rPr lang="fr-FR" sz="1600" b="0" i="0" dirty="0">
                <a:solidFill>
                  <a:srgbClr val="FFFFFF"/>
                </a:solidFill>
                <a:latin typeface="Arial"/>
              </a:rPr>
              <a:t>&gt;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valeurs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manquantes</a:t>
            </a:r>
            <a:endParaRPr sz="1600" b="0" i="0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•  Année par vote à 3 sources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• 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Doublons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: version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canonique</a:t>
            </a:r>
            <a:endParaRPr sz="16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19" y="1508760"/>
            <a:ext cx="3566160" cy="448056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19" y="1508760"/>
            <a:ext cx="3566160" cy="914400"/>
          </a:xfrm>
          <a:prstGeom prst="rect">
            <a:avLst/>
          </a:prstGeom>
          <a:solidFill>
            <a:srgbClr val="83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  VISUALISATION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 dirty="0" err="1">
                <a:solidFill>
                  <a:srgbClr val="E50914"/>
                </a:solidFill>
                <a:latin typeface="Arial"/>
              </a:rPr>
              <a:t>src</a:t>
            </a:r>
            <a:r>
              <a:rPr sz="1300" b="1" i="0" dirty="0">
                <a:solidFill>
                  <a:srgbClr val="E50914"/>
                </a:solidFill>
                <a:latin typeface="Arial"/>
              </a:rPr>
              <a:t>/</a:t>
            </a:r>
            <a:r>
              <a:rPr sz="1300" b="1" i="0" dirty="0" err="1">
                <a:solidFill>
                  <a:srgbClr val="E50914"/>
                </a:solidFill>
                <a:latin typeface="Arial"/>
              </a:rPr>
              <a:t>boxoffice</a:t>
            </a:r>
            <a:r>
              <a:rPr sz="1300" b="1" i="0" dirty="0">
                <a:solidFill>
                  <a:srgbClr val="E50914"/>
                </a:solidFill>
                <a:latin typeface="Arial"/>
              </a:rPr>
              <a:t>/audit/ + viz/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Entonnoir de sélection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Manquants et budgets aberrants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Effet de l'inflation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•  Biais de représentativité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4000" b="1" i="0">
                <a:solidFill>
                  <a:srgbClr val="E50914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4521"/>
            <a:ext cx="10058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lang="fr-FR" sz="3000" b="1" i="0" dirty="0">
                <a:solidFill>
                  <a:srgbClr val="FFFFFF"/>
                </a:solidFill>
                <a:latin typeface="Arial"/>
              </a:rPr>
              <a:t>La 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SÉLECTION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65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200" b="0" i="0">
                <a:solidFill>
                  <a:srgbClr val="B3B3B3"/>
                </a:solidFill>
                <a:latin typeface="Arial"/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8521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852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87 585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 dirty="0">
                <a:solidFill>
                  <a:srgbClr val="B3B3B3"/>
                </a:solidFill>
                <a:latin typeface="Arial"/>
              </a:rPr>
              <a:t>Films </a:t>
            </a:r>
            <a:r>
              <a:rPr sz="1500" b="0" i="0" dirty="0" err="1">
                <a:solidFill>
                  <a:srgbClr val="B3B3B3"/>
                </a:solidFill>
                <a:latin typeface="Arial"/>
              </a:rPr>
              <a:t>MovieLens</a:t>
            </a:r>
            <a:endParaRPr sz="1500" b="0" i="0" dirty="0">
              <a:solidFill>
                <a:srgbClr val="B3B3B3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148839"/>
            <a:ext cx="5641486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39"/>
            <a:ext cx="5641486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84 432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286" y="2148839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B3B3B3"/>
                </a:solidFill>
                <a:latin typeface="Arial"/>
              </a:rPr>
              <a:t>Notés ≥ 1 fois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2135535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13553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31 961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1335" y="2788920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B3B3B3"/>
                </a:solidFill>
                <a:latin typeface="Arial"/>
              </a:rPr>
              <a:t>Notés ≥ 10 fois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8999"/>
            <a:ext cx="2103129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428999"/>
            <a:ext cx="2103129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31 476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9" y="3428999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B3B3B3"/>
                </a:solidFill>
                <a:latin typeface="Arial"/>
              </a:rPr>
              <a:t>Trouvés par TMDB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79"/>
            <a:ext cx="2102327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79"/>
            <a:ext cx="2102327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31 464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127" y="4069079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B3B3B3"/>
                </a:solidFill>
                <a:latin typeface="Arial"/>
              </a:rPr>
              <a:t>Liste commune TMDB + IMDb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09160"/>
            <a:ext cx="1874682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87468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28 057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482" y="4709160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B3B3B3"/>
                </a:solidFill>
                <a:latin typeface="Arial"/>
              </a:rPr>
              <a:t>Films de cinéma (type IMDb)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1188720" cy="53035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445139"/>
            <a:ext cx="1188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9 </a:t>
            </a:r>
            <a:r>
              <a:rPr lang="fr-FR" sz="1600" b="1" i="0" dirty="0">
                <a:solidFill>
                  <a:srgbClr val="FFFFFF"/>
                </a:solidFill>
                <a:latin typeface="Arial"/>
              </a:rPr>
              <a:t>2</a:t>
            </a:r>
            <a:r>
              <a:rPr lang="fr-FR" sz="1600" b="1" dirty="0">
                <a:solidFill>
                  <a:srgbClr val="FFFFFF"/>
                </a:solidFill>
                <a:latin typeface="Arial"/>
              </a:rPr>
              <a:t>68</a:t>
            </a:r>
            <a:endParaRPr sz="1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74519" y="5349240"/>
            <a:ext cx="4389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Avec budget et recettes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50876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1645919"/>
            <a:ext cx="64008" cy="4114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E50914"/>
                </a:solidFill>
                <a:latin typeface="Arial"/>
              </a:rPr>
              <a:t>À RETENIR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292961"/>
            <a:ext cx="3017520" cy="16594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9 </a:t>
            </a:r>
            <a:r>
              <a:rPr lang="fr-FR" sz="1600" b="0" i="0" dirty="0">
                <a:solidFill>
                  <a:srgbClr val="FFFFFF"/>
                </a:solidFill>
                <a:latin typeface="Arial"/>
              </a:rPr>
              <a:t>2</a:t>
            </a:r>
            <a:r>
              <a:rPr lang="fr-FR" sz="1600" dirty="0">
                <a:solidFill>
                  <a:srgbClr val="FFFFFF"/>
                </a:solidFill>
                <a:latin typeface="Arial"/>
              </a:rPr>
              <a:t>68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films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exploitables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sur 87 585, soit 11 %.</a:t>
            </a:r>
          </a:p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Deux grosses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pertes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: le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seuil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de 10 notes (−52 471) et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l'absence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de budget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ou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Arial"/>
              </a:rPr>
              <a:t>recettes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 chez TMDB (−18</a:t>
            </a:r>
            <a:r>
              <a:rPr lang="fr-FR" sz="1600" b="0" i="0" dirty="0">
                <a:solidFill>
                  <a:srgbClr val="FFFFFF"/>
                </a:solidFill>
                <a:latin typeface="Arial"/>
              </a:rPr>
              <a:t> 774</a:t>
            </a:r>
            <a:r>
              <a:rPr sz="1600" b="0" i="0" dirty="0">
                <a:solidFill>
                  <a:srgbClr val="FFFFFF"/>
                </a:solidFill>
                <a:latin typeface="Arial"/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453</Words>
  <Application>Microsoft Office PowerPoint</Application>
  <PresentationFormat>Grand écran</PresentationFormat>
  <Paragraphs>94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 OUAHBI Mohamed</cp:lastModifiedBy>
  <cp:revision>5</cp:revision>
  <dcterms:created xsi:type="dcterms:W3CDTF">2013-01-27T09:14:16Z</dcterms:created>
  <dcterms:modified xsi:type="dcterms:W3CDTF">2026-10-02T08:25:18Z</dcterms:modified>
  <cp:category/>
</cp:coreProperties>
</file>